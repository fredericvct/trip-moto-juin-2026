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principale : aeroVFR, « Sorties de piste longitudinales » volets 1 et 2, septembre 2026. Cas BEA : F-GOOF Pressignac-Vicq (BEA2023-0218), DA40 La Grand'Combe, F-BXZG Fumel-Montayral (2014).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aeroVFR cite des rapports où le pilote accepte un toucher à mi-piste sur 700 m, ne laissant que 350 m pour freiner. Ouvrir la discussion avant de donner des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Symposium sécurité DSAC du 7 décembre 2023, consacré à la prévention des sorties longitudinales de piste. Chiffre à revérifier dans le livret du symposium avant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Thèse centrale d'aeroVFR : le BEA décrit la déstabilisation, mais celle-ci résulte de facteurs antérieurs. C'est sur ces facteurs que le club peut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Rapport BEA2023-0218, accident du 14 juin 2023 à Pressignac (24), aérodrome de Rebeyrotte LF2432. Lire le rapport complet avant la séance : la chronologie des rebonds diffère légèrement selon les extraits.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Rapport BEA « Approche non stabilisée, atterrissage long, rebond, sortie longitudinale de piste ». Point pédagogique : un toucher dans le premier tiers ne garantit rien si l'énergie n'est pas dissipée.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Rapport BEA, accident du 29 juin 2014 à Fumel-Montayral (47). Cas plus ancien mais très pédagogique sur le lien entre expérience récente et marge de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cas « herbe mouillée » : approche à contre-QFU par vent calme, seul dans le circuit, atterrissage long après hésitation à remettre les gaz, freinage insuffisant sur 685 m, fossé. Le pilote avait déjà hésité à décoller à cause d'un ciel menaçant.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Notion reprise du volet 2 d'aeroVFR. La verrière ouverte au décollage est l'exemple classique : l'avion vole, il faut juste faire un tour de piste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développé dans le volet 2 d'aeroVFR. À remplacer ou compléter par un terrain que le club fréquente réellement, avec sa VAC projetée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ces ordres de grandeur avec les manuels de vol des avions du club (DR400, Cessna, etc.) et adapter la slide. L'important est le message : les majorations se multiplient entre 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Doctrine reprise d'aeroVFR 2015 « Pour éviter les sorties longitudinales » et du guide DGAC sur l'approche stabilisée. En aviation commerciale la porte est à 1 000 ft, en aviation générale à 300 ft sol.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ligne de droite : dans deux des trois cas, le pilote avait déjà remis les gaz une fois, et n'a pas refait le même choix à la seconde approche.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à personnaliser avec les données du club avant la séance. Prévoir le manuel de vol de deux avions du club pour faire l'exercice en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23160" y="594360"/>
            <a:ext cx="27432" cy="155448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fv_blanc_bl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187833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0" y="685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9ED6"/>
                </a:solidFill>
                <a:latin typeface="Calibri"/>
              </a:rPr>
              <a:t>SÉCURITÉ DES VOLS · AÉROCLUB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143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FV — Instructeur de Vol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Sorties de piste longitudinales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A9ED6"/>
                </a:solidFill>
                <a:latin typeface="Calibri Light"/>
              </a:rPr>
              <a:t>Pourquoi continue-t-on un atterrissage qu'il fallait abandonner 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34840"/>
            <a:ext cx="10789920" cy="2743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2EBF8"/>
                </a:solidFill>
                <a:latin typeface="Calibri"/>
              </a:rPr>
              <a:t>Réunion sécurité · Pilotes brevetés et élèves · D'après aeroVFR (sept. 2026) et rapports BEA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Objectifs de la séance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A8C"/>
                </a:solidFill>
                <a:latin typeface="Calibri"/>
              </a:rPr>
              <a:t>À la fin de cette séance, vous saurez…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45920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A3A5C"/>
                </a:solidFill>
                <a:latin typeface="Calibri"/>
              </a:rPr>
              <a:t>Reconnaître les facteurs qui précèdent une approche non stabilisée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06039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A3A5C"/>
                </a:solidFill>
                <a:latin typeface="Calibri"/>
              </a:rPr>
              <a:t>Analyser trois accidents récents du BEA sur des avions de club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52044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66160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A3A5C"/>
                </a:solidFill>
                <a:latin typeface="Calibri"/>
              </a:rPr>
              <a:t>Appliquer une porte de décision et un repère de remise de gaz sur nos pistes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480560"/>
            <a:ext cx="502920" cy="502920"/>
          </a:xfrm>
          <a:prstGeom prst="ellipse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526280"/>
            <a:ext cx="9875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A3A5C"/>
                </a:solidFill>
                <a:latin typeface="Calibri"/>
              </a:rPr>
              <a:t>Calculer une distance d'atterrissage majorée avant un vol vers un terrain court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Un toucher à mi-piste : que reste-t-il 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566160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700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Longueur de la piste (cas typique des rapports BEA)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828800"/>
            <a:ext cx="356616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350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Ce qu'il reste pour freiner après un toucher à mi-piste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566160" cy="54864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? 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Distance de roulement de votre avion, herbe, vent nul, freinage 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A8C"/>
                </a:solidFill>
                <a:latin typeface="Calibri"/>
              </a:rPr>
              <a:t>Question à l'assistance : qui connaît, de tête, la distance d'atterrissage de l'avion qu'il pilote le plus souvent ? Puis : qui l'a déjà recalculée avec de l'herbe mouillée ou une composante de vent arrière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Le constat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Ce que disent les rapports du BEA, et pourquoi la cause « officielle » n'est qu'un symptôme.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Ce que disent les rapports du BEA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À l'atterrissage bien plus qu'au décollage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Au décollage : panne moteur en accélération, verrière ouverte, puis décélération tardive ou insuffisante.</a:t>
            </a: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La cause citée presque à chaque fois : finale non stabilisée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Trop haut, trop vite, ou les deux. Toucher long, freinage insuffisant, sortie en bout de piste.</a:t>
            </a: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Le point commun : la remise de gaz n'a pas été décidée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Le pilote voit les paramètres dégradés et continue quand même. Le rapport le dit sobrement : « le pilote poursuit l'atterrissage ».</a:t>
            </a: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Pas un problème de petits avions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Symposium DSAC 2023 : sur 115 accidents mondiaux d'avions commerciaux en 2022, 16 sont des sorties de piste.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La finale non stabilisée est un symptôme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39496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Ce que dit le rapport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Approche trop haute et trop rapide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Toucher long, au-delà du premier tiers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Rebond(s), freinage tardif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Absence de remise de gaz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Sortie longitudinale, dégâts, parfois blessés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9496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Ce qui s'est passé avant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Terrain inconnu, VAC survolée, pente et relief non anticipés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Circuit raccourci ou « contraint » : pas le temps de stabiliser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Vent mal évalué : composante arrière acceptée sans calcul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Précipitation : un souci banal traité comme une urgence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Peu d'expérience récente, aucune marge définie avant le vol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Trois cas du BEA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Des avions de club, des pistes de 700 à 800 mètres, et à chaque fois une décision de remise de gaz qui n'a pas été prise.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Cas 1 · DR400 à Pressignac-Vicq (2023)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603504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603504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Robin DR400 F-GOOF · Piste 19 non revêtue · 800 m · pente montante 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1.  </a:t>
            </a:r>
            <a:r>
              <a:rPr sz="1500">
                <a:solidFill>
                  <a:srgbClr val="1A3A5C"/>
                </a:solidFill>
                <a:latin typeface="Calibri"/>
              </a:rPr>
              <a:t>Premier posé : rebonds, toucher dur, l'avion part à gauche. Remise de gaz.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2.  </a:t>
            </a:r>
            <a:r>
              <a:rPr sz="1500">
                <a:solidFill>
                  <a:srgbClr val="1A3A5C"/>
                </a:solidFill>
                <a:latin typeface="Calibri"/>
              </a:rPr>
              <a:t>Le pilote raccourcit le circuit pour éviter une ferme, alors que la VAC prévoit un circuit large.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3.  </a:t>
            </a:r>
            <a:r>
              <a:rPr sz="1500">
                <a:solidFill>
                  <a:srgbClr val="1A3A5C"/>
                </a:solidFill>
                <a:latin typeface="Calibri"/>
              </a:rPr>
              <a:t>Seconde approche en 19 : QFU imposé, vent 340° / 9 kt, donc composante arrière.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4.  </a:t>
            </a:r>
            <a:r>
              <a:rPr sz="1500">
                <a:solidFill>
                  <a:srgbClr val="1A3A5C"/>
                </a:solidFill>
                <a:latin typeface="Calibri"/>
              </a:rPr>
              <a:t>Vitesse excessive, trajectoire décalée de l'axe et au-dessus du plan. Pas de stabilisation possible.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5.  </a:t>
            </a:r>
            <a:r>
              <a:rPr sz="1500">
                <a:solidFill>
                  <a:srgbClr val="1A3A5C"/>
                </a:solidFill>
                <a:latin typeface="Calibri"/>
              </a:rPr>
              <a:t>Toucher à environ 500 m après le seuil, à gauche de l'axe. Sortie de piste, clôture, arbres.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234440"/>
            <a:ext cx="4983480" cy="27889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1234440"/>
            <a:ext cx="498348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2801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Facteurs en amont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810512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Terrain privé court, QFU imposé, pente : contraintes cumulées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Circuit raccourci « pour bien faire »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Composante de vent arrière non prise en compte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Une première remise de gaz réussie, puis plus rien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4206240"/>
            <a:ext cx="4983480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0" y="4206240"/>
            <a:ext cx="498348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42519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décision qui manquait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73168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Seconde remise de gaz à 300 ft, dès que l'axe et la vitesse ne sont pas tenus. Une remise de gaz n'est pas un échec, c'est une procédure.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Cas 2 · DA40 à La Grand'Combe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603504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603504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Diamond DA40 · Piste 35 · 780 m · terrain au sommet d'une colline, entouré de relief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1.  </a:t>
            </a:r>
            <a:r>
              <a:rPr sz="1500">
                <a:solidFill>
                  <a:srgbClr val="1A3A5C"/>
                </a:solidFill>
                <a:latin typeface="Calibri"/>
              </a:rPr>
              <a:t>Première approche en 17 : vitesse impossible à réduire en finale. Remise de gaz.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2.  </a:t>
            </a:r>
            <a:r>
              <a:rPr sz="1500">
                <a:solidFill>
                  <a:srgbClr val="1A3A5C"/>
                </a:solidFill>
                <a:latin typeface="Calibri"/>
              </a:rPr>
              <a:t>Passage de reconnaissance pour vérifier le vent.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3.  </a:t>
            </a:r>
            <a:r>
              <a:rPr sz="1500">
                <a:solidFill>
                  <a:srgbClr val="1A3A5C"/>
                </a:solidFill>
                <a:latin typeface="Calibri"/>
              </a:rPr>
              <a:t>Seconde approche en 35. Toucher dans le premier tiers de la piste.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4.  </a:t>
            </a:r>
            <a:r>
              <a:rPr sz="1500">
                <a:solidFill>
                  <a:srgbClr val="1A3A5C"/>
                </a:solidFill>
                <a:latin typeface="Calibri"/>
              </a:rPr>
              <a:t>Rebond sur une bosse de la piste.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5.  </a:t>
            </a:r>
            <a:r>
              <a:rPr sz="1500">
                <a:solidFill>
                  <a:srgbClr val="1A3A5C"/>
                </a:solidFill>
                <a:latin typeface="Calibri"/>
              </a:rPr>
              <a:t>Sortie longitudinale, l'avion s'immobilise en contrebas.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234440"/>
            <a:ext cx="4983480" cy="27889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1234440"/>
            <a:ext cx="498348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2801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Facteurs en amont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810512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Terrain « complexe » selon le BEA : relief, turbulence, piste bosselée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Expérience récente limitée, DA40 jugé « très exigeant » par le pilote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Dernier posé sur ce terrain : cinq ans plus tôt, en DR400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Après le rebond, le pilote poursuit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4206240"/>
            <a:ext cx="4983480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0" y="4206240"/>
            <a:ext cx="498348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42519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décision qui manquait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73168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Après un rebond franc, remise de gaz immédiate. Le second toucher risque un nouveau rebond, et la piste restante diminue très vite.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Cas 3 · Cessna F150M à Fumel-Montayral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603504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603504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Reims-Cessna F150M F-BXZG · Piste 35 · 720 m · vent plein travers 10 kt avec rafales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1.  </a:t>
            </a:r>
            <a:r>
              <a:rPr sz="1500">
                <a:solidFill>
                  <a:srgbClr val="1A3A5C"/>
                </a:solidFill>
                <a:latin typeface="Calibri"/>
              </a:rPr>
              <a:t>Le pilote totalise 1 heure et 3 atterrissages dans les 8 derniers mois.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2.  </a:t>
            </a:r>
            <a:r>
              <a:rPr sz="1500">
                <a:solidFill>
                  <a:srgbClr val="1A3A5C"/>
                </a:solidFill>
                <a:latin typeface="Calibri"/>
              </a:rPr>
              <a:t>Préparation du vol sans analyse des paramètres météo.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3.  </a:t>
            </a:r>
            <a:r>
              <a:rPr sz="1500">
                <a:solidFill>
                  <a:srgbClr val="1A3A5C"/>
                </a:solidFill>
                <a:latin typeface="Calibri"/>
              </a:rPr>
              <a:t>Finale entamée avec une vitesse excessive.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4.  </a:t>
            </a:r>
            <a:r>
              <a:rPr sz="1500">
                <a:solidFill>
                  <a:srgbClr val="1A3A5C"/>
                </a:solidFill>
                <a:latin typeface="Calibri"/>
              </a:rPr>
              <a:t>À l'arrondi, une rafale fait remonter l'avion. Second arrondi, même phénomène.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A9ED6"/>
                </a:solidFill>
                <a:latin typeface="Calibri"/>
              </a:rPr>
              <a:t>5.  </a:t>
            </a:r>
            <a:r>
              <a:rPr sz="1500">
                <a:solidFill>
                  <a:srgbClr val="1A3A5C"/>
                </a:solidFill>
                <a:latin typeface="Calibri"/>
              </a:rPr>
              <a:t>Hésitation à remettre les gaz, puis décision de continuer. Toucher à mi-piste, talus, train avant arraché.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234440"/>
            <a:ext cx="4983480" cy="27889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1234440"/>
            <a:ext cx="4983480" cy="50292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2801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Facteurs en amont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810512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Expérience récente très faible, non compensée par une marge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Météo non intégrée à la décision de partir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Vent travers avec composante arrière et rafales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A3A5C"/>
                </a:solidFill>
                <a:latin typeface="Calibri"/>
              </a:rPr>
              <a:t>▸  Excès d'énergie impossible à absorber à l'arrondi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4206240"/>
            <a:ext cx="4983480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0" y="4206240"/>
            <a:ext cx="498348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425196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décision qui manquait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73168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Au premier arrondi remonté par une rafale, remise de gaz. Et avant cela : renoncer au vol, ou choisir une piste plus longue.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Les facteurs en amont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Ce qui, avant même la finale, met le pilote dans une situation qu'il ne saura plus rattraper.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Six facteurs qui précèdent la déstabilisation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Préparation insuffisante du terrain d'arrivée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VAC lue en vol, topographie non regardée, consignes de turbulence ou de pente ignorées.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Circuit contraint ou raccourci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Éviter une ferme, gagner du temps, suivre un autre avion : la finale devient trop courte pour stabiliser.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Vent mal évalué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Manche à air non surveillée, composante arrière acceptée. Un DR-360 posé à contre-QFU, haut et vite en finale : sortie longitudinale, avion lourdement endommagé.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Syndrome de précipitation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Un souci banal est traité comme une urgence : on veut « faire vite » et on supprime les marges.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Surface et pente non intégrées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Herbe mouillée : freinage insuffisant sur 685 m et fossé. Pente descendante : roulement allongé.</a:t>
            </a:r>
          </a:p>
          <a:p>
            <a:pPr>
              <a:spcAft>
                <a:spcPts val="700"/>
              </a:spcAft>
            </a:pPr>
            <a:r>
              <a:rPr sz="1900" b="1">
                <a:solidFill>
                  <a:srgbClr val="1A3A5C"/>
                </a:solidFill>
                <a:latin typeface="Calibri"/>
              </a:rPr>
              <a:t>▸  Expérience récente faible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5A6A7E"/>
                </a:solidFill>
                <a:latin typeface="Calibri Light"/>
              </a:rPr>
              <a:t>       Sans marge supplémentaire décidée à l'avance, le pilote n'a plus de ressource quand la situation se dégrade.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Le syndrome de précipitation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71600"/>
            <a:ext cx="10881360" cy="1600200"/>
          </a:xfrm>
          <a:prstGeom prst="rect">
            <a:avLst/>
          </a:prstGeom>
          <a:solidFill>
            <a:srgbClr val="D2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109728" cy="160020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24128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3A5C"/>
                </a:solidFill>
                <a:latin typeface="Calibri Light"/>
              </a:rPr>
              <a:t>« Un problème en vol est traité comme une urgence, alors qu'un tour de piste normal serait la bonne solution. Sous une pression de temps injustifiée, le pilote veut faire vite : il raccourcit le circuit, ou se pose à contre-QFU sans regarder la composante de vent arrière.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3383280" cy="45720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Les signes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Un souci mineur (verrière, porte, passager malade, carburant « juste », météo qui se dégrade) et soudain tout s'accélère : radio précipitée, circuit tronqué, check-list oubliée.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337560"/>
            <a:ext cx="33832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 mémo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« Est-ce que l'avion vole ? » Si oui, j'ai le temps d'un tour de piste complet. Prendre de la hauteur, respirer, refaire la préparation de l'approche.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337560"/>
            <a:ext cx="3383280" cy="45720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 piège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Se dire qu'un circuit court « fera gagner une minute ». Il fait surtout perdre la seule chose qui permet de stabiliser : la distance en finale.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Préparer un terrain : l'exemple de Barcelonnette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71600"/>
            <a:ext cx="10881360" cy="1600200"/>
          </a:xfrm>
          <a:prstGeom prst="rect">
            <a:avLst/>
          </a:prstGeom>
          <a:solidFill>
            <a:srgbClr val="D2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109728" cy="160020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24128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A3A5C"/>
                </a:solidFill>
                <a:latin typeface="Calibri Light"/>
              </a:rPr>
              <a:t>« Pour un terrain peu ou pas pratiqué récemment, surtout avec une piste courte ou limitative, la préparation se fait bien avant le décollage : analyse de la VAC, topographie sur Google Earth, lecture des consignes particulières qui annoncent une turbulence par certains vents ou une piste en pente.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3383280" cy="457200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Ce que dit la VAC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En été, vent calme le matin, brise forte l'après-midi. Piste 27 alors obligatoire, avec forte turbulence et rabattants possibles en courte finale.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337560"/>
            <a:ext cx="3383280" cy="457200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Ce que dit le relief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Piste bombée dans le sens longitudinal : l'autre extrémité n'est pas visible depuis le seuil. La distance disponible est trompeuse à l'œil.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337560"/>
            <a:ext cx="3383280" cy="26060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337560"/>
            <a:ext cx="33832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3410712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Ce que je décide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88620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2EBF8"/>
                </a:solidFill>
                <a:latin typeface="Calibri Light"/>
              </a:rPr>
              <a:t>Toucher visé dans le premier quart montant, pour compenser la partie descendante de la seconde moitié. Arriver le matin, ou renoncer si la brise est établie.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La physique ne négocie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566160" cy="54864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+ 20 %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de distance d'atterrissage pour 10 % de vitesse en trop (l'énergie varie avec le carré de la vitesse)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828800"/>
            <a:ext cx="356616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× 1,5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distance de roulement avec 10 kt de vent arrière (ordre de grandeur donné par les manuels Cessna)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566160" cy="54864"/>
          </a:xfrm>
          <a:prstGeom prst="rect">
            <a:avLst/>
          </a:prstGeom>
          <a:solidFill>
            <a:srgbClr val="D68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1A3A5C"/>
                </a:solidFill>
                <a:latin typeface="Calibri Light"/>
              </a:rPr>
              <a:t>× 1,3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42900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A8C"/>
                </a:solidFill>
                <a:latin typeface="Calibri"/>
              </a:rPr>
              <a:t>sur herbe mouillée ou haute, par rapport à une piste en dur sèche (majorations usuelles)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A8C"/>
                </a:solidFill>
                <a:latin typeface="Calibri"/>
              </a:rPr>
              <a:t>Ces coefficients se cumulent. Ils sont indicatifs : la référence reste le manuel de vol de l'avion, puis une marge personnelle par-dessus. Le calcul se fait au sol, avant le départ, jamais en finale.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E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7159752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pic>
        <p:nvPicPr>
          <p:cNvPr id="6" name="Picture 5" descr="logo_fv_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1767840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0" y="2286000"/>
            <a:ext cx="7159752" cy="36576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188720"/>
            <a:ext cx="64008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Les règles et leur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14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2EBF8"/>
                </a:solidFill>
                <a:latin typeface="Calibri Light"/>
              </a:rPr>
              <a:t>Une porte de décision, un repère de remise de gaz, un calcul de distance : trois habitudes à installer au club.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Cinq règles à appliquer sur chaque atterrissage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La porte des 300 ft sol : stabilisé ou remise de gaz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Axe, plan, vitesse, configuration, moteur. Si un seul paramètre n'est pas tenu, on remet les gaz. Sans débat.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Vitesse d'approche : 1,3 Vs, corrigée seulement pour le vent fort ou turbulent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C'est le paramètre sur lequel le pilote a le plus d'influence. Chaque nœud en trop se paie en mètres.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Une zone de toucher et un repère physique de remise de gaz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Toucher visé dans le premier tiers. Si les roues ne sont pas au sol avant le repère, on remet les gaz.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Rebond franc = remise de gaz immédiate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Petit rebond : conserver l'assiette. Rebond franc : plein gaz, assiette de montée, on recommence.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Majorer les distances quand le vent est incertain, la piste mouillée ou en pente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Manche à air surveillée jusqu'en finale. Composante arrière : on change de QFU ou de terrain.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À 300 ft sol : je continue ou je remets les gaz 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394960" cy="5029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Je continue seulement si tout est vrai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Sur l'axe, sans correction importante en cours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Sur le plan, avec un point d'aboutissement stable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Vitesse : 1,3 Vs, écart de 5 kt au plus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Configuration finale sortie, avion compensé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Piste dégagée, vent conforme à ce qui était prévu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Zone de toucher et repère de remise de gaz identifiés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9496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2801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Je remets les gaz dès 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Un paramètre sort de la tolérance et n'y revient pas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L'arrondi est remonté par une rafale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Rebond franc au toucher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Les roues ne sont pas au sol avant le repère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Un doute, quel qu'il soit, sur le vent ou la piste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J'ai déjà remis les gaz une fois : même règle la seconde fois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Application à nos pistes et à nos navigations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Nos pistes : longueur, revêtement, pente, repère de remise de gaz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[À compléter : pour chaque QFU, un repère visible depuis le cockpit avant lequel les roues doivent être au sol.]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Nos terrains de navigation habituels de moins de 800 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[À compléter : liste des terrains courts fréquentés par le club, avec leurs particularités VAC.]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Exercice au tableau : distance d'atterrissage majorée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Distance manuel (piste dure, sèche, vent nul) × herbe × mouillée × vent arrière × marge personnelle = ?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Comparer le résultat à la longueur de piste. Si l'écart est faible, le terrain est hors limites ce jour-là.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1A3A5C"/>
                </a:solidFill>
                <a:latin typeface="Calibri"/>
              </a:rPr>
              <a:t>▸  Engagement de séance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A6A7E"/>
                </a:solidFill>
                <a:latin typeface="Calibri Light"/>
              </a:rPr>
              <a:t>       Chacun repart avec une valeur de distance pour son avion habituel et un repère de remise de gaz sur notre piste principale.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Question de révision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881360" cy="1005840"/>
          </a:xfrm>
          <a:prstGeom prst="rect">
            <a:avLst/>
          </a:prstGeom>
          <a:solidFill>
            <a:srgbClr val="D2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800" b="1">
                <a:solidFill>
                  <a:srgbClr val="1A3A5C"/>
                </a:solidFill>
                <a:latin typeface="Calibri"/>
              </a:rPr>
              <a:t>Finale sur une piste en herbe de 750 m. À 300 ft sol, vous êtes à Vref + 15 kt et légèrement au-dessus du plan. Que faites-vous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5257800" cy="10515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1" y="2990088"/>
            <a:ext cx="457200" cy="457200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8346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3A5C"/>
                </a:solidFill>
                <a:latin typeface="Calibri"/>
              </a:rPr>
              <a:t>Réduire les gaz, sortir le dernier cran de volets et rattraper le plan avant l'arrondi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697480"/>
            <a:ext cx="5257800" cy="105156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8231" y="2990088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28346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E7D4F"/>
                </a:solidFill>
                <a:latin typeface="Calibri"/>
              </a:rPr>
              <a:t>Remettre les gaz maintenant, refaire un tour de piste complet et une finale stabilisée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69080"/>
            <a:ext cx="5257800" cy="10515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1" y="4361688"/>
            <a:ext cx="457200" cy="457200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2062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3A5C"/>
                </a:solidFill>
                <a:latin typeface="Calibri"/>
              </a:rPr>
              <a:t>Continuer, poser dans le premier tiers et freiner énergiquement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069080"/>
            <a:ext cx="5257800" cy="10515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8231" y="4361688"/>
            <a:ext cx="457200" cy="457200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206240"/>
            <a:ext cx="4389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3A5C"/>
                </a:solidFill>
                <a:latin typeface="Calibri"/>
              </a:rPr>
              <a:t>Faire une glissade pour perdre la hauteur en excès et poser normalement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C"/>
                </a:solidFill>
                <a:latin typeface="Calibri"/>
              </a:rPr>
              <a:t>Correction : deux paramètres hors tolérance à la porte de décision. Rattraper en finale courte, c'est exactement le scénario des trois cas BEA. La réponse B est la seule qui restaure les marges.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Pour le débat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Qui a déjà continué un atterrissage qu'il aurait dû abandonner ? Pourquoi ?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Sans jugement : la fatigue, l'orgueil, la présence d'un passager, le « ça va passer » sont des facteurs partagés par tous.</a:t>
            </a:r>
          </a:p>
          <a:p>
            <a:pPr>
              <a:spcAft>
                <a:spcPts val="18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Que se passe-t-il au club après une remise de gaz ?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Est-elle vue comme un échec ou comme une bonne décision ? La culture du club influence la décision en finale.</a:t>
            </a:r>
          </a:p>
          <a:p>
            <a:pPr>
              <a:spcAft>
                <a:spcPts val="1800"/>
              </a:spcAft>
            </a:pPr>
            <a:r>
              <a:rPr sz="2200" b="1">
                <a:solidFill>
                  <a:srgbClr val="1A3A5C"/>
                </a:solidFill>
                <a:latin typeface="Calibri"/>
              </a:rPr>
              <a:t>▸  Quels terrains de nos navigations méritent une préparation particulière ?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5A6A7E"/>
                </a:solidFill>
                <a:latin typeface="Calibri Light"/>
              </a:rPr>
              <a:t>       Pente, bosse, relief, QFU imposé, herbe : les repérer maintenant, pas au moment de s'y poser.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Ce qu'il faut retenir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09928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00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La finale non stabilisée est un symptôme : les causes sont dans la préparation et le circuit.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852928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43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À 300 ft sol, un paramètre hors tolérance suffit : remise de gaz, sans débat.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95927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86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Une zone de toucher, un repère physique, un rebond franc : trois déclencheurs de remise de gaz.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5138927"/>
            <a:ext cx="457200" cy="4572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292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3A5C"/>
                </a:solidFill>
                <a:latin typeface="Calibri"/>
              </a:rPr>
              <a:t>Distance d'atterrissage majorée calculée au sol. Vent arrière, herbe mouillée et pente se multiplient.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"/>
            <a:ext cx="1127455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Sources et lectures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EBF8"/>
                </a:solidFill>
                <a:latin typeface="Calibri"/>
              </a:rPr>
              <a:t>Formation PPL · LAPL  —  Frédéric Vincenot · FI</a:t>
            </a:r>
          </a:p>
        </p:txBody>
      </p:sp>
      <p:pic>
        <p:nvPicPr>
          <p:cNvPr id="7" name="Picture 6" descr="tampon_fv_g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108192"/>
            <a:ext cx="64008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2" y="655624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2EBF8"/>
                </a:solidFill>
                <a:latin typeface="Calibr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aeroVFR, « Sorties de piste longitudinales » (1) et (2), septembre 2026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aerovfr.com/2026/09/sorties-de-piste-longitudinales-1/ et …-2/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Rapports BEA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F-GOOF, DR400, Pressignac (24), 14 juin 2023, BEA2023-0218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DA40, La Grand'Combe : « Approche non stabilisée, atterrissage long, rebond, sortie longitudinale de piste »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F-BXZG, Reims-Cessna F150M, Fumel-Montayral (47), 29 juin 2014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Cas cités par aeroVFR sans référence : DR-360 posé à contre-QFU ; atterrissage long sur 685 m d'herbe mouillée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A5C"/>
                </a:solidFill>
                <a:latin typeface="Calibri"/>
              </a:rPr>
              <a:t>▸  Doctrine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aeroVFR, « Pour éviter les sorties longitudinales à l'atterrissage » (2015) ; « Finale non stabilisée, prise de décision et remise de gaz » (2023) ; « La menace des circuits contraints » (2025)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aeroVFR, « Ne pas faire brouette à l'atterrissage » (2026), sur le freinage et la roulette de nez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DGAC, Guide de transition « Approche stabilisée »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A6A7E"/>
                </a:solidFill>
                <a:latin typeface="Calibri Light"/>
              </a:rPr>
              <a:t>       DSAC, Symposium sécurité 2023 « Prévenir les sorties de piste » ; BEA, étude sorties de piste en aviation générale (2006)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fv_blanc_bl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9576" y="960120"/>
            <a:ext cx="22098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514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 Light"/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A9ED6"/>
                </a:solidFill>
                <a:latin typeface="Calibri Light"/>
              </a:rPr>
              <a:t>Une remise de gaz n'est jamais une erreur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4297680"/>
            <a:ext cx="5760720" cy="27432"/>
          </a:xfrm>
          <a:prstGeom prst="rect">
            <a:avLst/>
          </a:prstGeom>
          <a:solidFill>
            <a:srgbClr val="4A9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2EBF8"/>
                </a:solidFill>
                <a:latin typeface="Calibri"/>
              </a:rPr>
              <a:t>FV · Instructeur de Vol · Formation PPL / LAPL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